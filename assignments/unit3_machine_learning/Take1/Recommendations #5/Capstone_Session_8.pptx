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734" r:id="rId4"/>
    <p:sldId id="758" r:id="rId5"/>
    <p:sldId id="753" r:id="rId6"/>
    <p:sldId id="754" r:id="rId7"/>
    <p:sldId id="740" r:id="rId8"/>
    <p:sldId id="755" r:id="rId9"/>
    <p:sldId id="756" r:id="rId10"/>
    <p:sldId id="757" r:id="rId11"/>
    <p:sldId id="260" r:id="rId12"/>
  </p:sldIdLst>
  <p:sldSz cx="16256000" cy="9144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Laxopx6SCvhILAnBUhXziw==" hashData="qyR2BChVEUpxwkVX3zY2LoFlb/UqMVZ26+VnWYHMWrf51+9s5C+59S5msn6xTze3HIt9xEvlcTpY0+kJLlHk5Q=="/>
  <p:extLst>
    <p:ext uri="{EFAFB233-063F-42B5-8137-9DF3F51BA10A}">
      <p15:sldGuideLst xmlns:p15="http://schemas.microsoft.com/office/powerpoint/2012/main">
        <p15:guide id="1" orient="horz" pos="998">
          <p15:clr>
            <a:srgbClr val="A4A3A4"/>
          </p15:clr>
        </p15:guide>
        <p15:guide id="2" pos="5120" userDrawn="1">
          <p15:clr>
            <a:srgbClr val="A4A3A4"/>
          </p15:clr>
        </p15:guide>
        <p15:guide id="3" pos="9679" userDrawn="1">
          <p15:clr>
            <a:srgbClr val="A4A3A4"/>
          </p15:clr>
        </p15:guide>
        <p15:guide id="4" pos="1038" userDrawn="1">
          <p15:clr>
            <a:srgbClr val="A4A3A4"/>
          </p15:clr>
        </p15:guide>
        <p15:guide id="5" orient="horz" pos="1383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04" roundtripDataSignature="AMtx7mjHxEVoIDQVsOGw+OVzpmovhZbz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8D8D8"/>
    <a:srgbClr val="DDEAF6"/>
    <a:srgbClr val="B3B3B3"/>
    <a:srgbClr val="009FB7"/>
    <a:srgbClr val="839788"/>
    <a:srgbClr val="C7D3DD"/>
    <a:srgbClr val="FF8966"/>
    <a:srgbClr val="EFC88B"/>
    <a:srgbClr val="16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977" autoAdjust="0"/>
  </p:normalViewPr>
  <p:slideViewPr>
    <p:cSldViewPr snapToGrid="0">
      <p:cViewPr varScale="1">
        <p:scale>
          <a:sx n="27" d="100"/>
          <a:sy n="27" d="100"/>
        </p:scale>
        <p:origin x="1980" y="66"/>
      </p:cViewPr>
      <p:guideLst>
        <p:guide orient="horz" pos="998"/>
        <p:guide pos="5120"/>
        <p:guide pos="9679"/>
        <p:guide pos="1038"/>
        <p:guide orient="horz" pos="13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10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10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0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10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9541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Trainer Notes: </a:t>
            </a:r>
          </a:p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en-US" sz="1800" b="0" i="1" u="none" strike="noStrike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ClickO’s</a:t>
            </a: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 early adopter customers come from a wide range of sectors: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FloridaBikeRentals.com, a rental agency for high-end bikes in the Key West area, wants Aura’s help to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help them predict bike-sharing demand</a:t>
            </a: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 This will help the customer better manage inventory and offer discounts during slack time. 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The Retail Realtor Association of California who seek Aura’s help to categorize potential customers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Credit Card agency LexNex who seek to find patterns amongst their users so that they can market cross-sell and up-sell credit products to them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Insurance provider Health Locate who need Aura’s help to detect early disease symptoms among acute patients who are in ERs across continental US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LensFilms, a movie recommendation startup, who wish to recommend movies to their users.</a:t>
            </a:r>
          </a:p>
          <a:p>
            <a:pPr marL="457200" rtl="0">
              <a:spcBef>
                <a:spcPts val="1200"/>
              </a:spcBef>
              <a:spcAft>
                <a:spcPts val="0"/>
              </a:spcAft>
            </a:pPr>
            <a:r>
              <a:rPr lang="en-US" sz="18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 The intelligence provided by Aura will help customers make decisions for their omnichannel marketing and customer acquisition programs. </a:t>
            </a:r>
            <a:endParaRPr lang="en-US" sz="2800" b="0" dirty="0">
              <a:effectLst/>
            </a:endParaRPr>
          </a:p>
          <a:p>
            <a:br>
              <a:rPr lang="en-US" sz="2800" dirty="0"/>
            </a:br>
            <a:endParaRPr lang="en-US" dirty="0"/>
          </a:p>
          <a:p>
            <a:r>
              <a:rPr lang="en-US" dirty="0"/>
              <a:t>Images:</a:t>
            </a:r>
          </a:p>
          <a:p>
            <a:r>
              <a:rPr lang="en-US" dirty="0"/>
              <a:t>https://www.flaticon.com/premium-icon/bicycle_2766449?term=bike&amp;page=1&amp;position=35&amp;page=1&amp;position=35&amp;related_id=2766449&amp;origin=search</a:t>
            </a:r>
          </a:p>
          <a:p>
            <a:r>
              <a:rPr lang="en-US" dirty="0"/>
              <a:t>https://www.flaticon.com/free-icon/house_2747475?term=realtor&amp;page=1&amp;position=16&amp;page=1&amp;position=16&amp;related_id=2747475&amp;origin=search</a:t>
            </a:r>
          </a:p>
          <a:p>
            <a:r>
              <a:rPr lang="en-US" dirty="0"/>
              <a:t>https://www.flaticon.com/premium-icon/theatre_2950921?term=movie&amp;page=1&amp;position=41&amp;page=1&amp;position=41&amp;related_id=2950921&amp;origin=search</a:t>
            </a:r>
          </a:p>
          <a:p>
            <a:r>
              <a:rPr lang="en-US" dirty="0"/>
              <a:t>https://www.flaticon.com/free-icon/credit-card_4289322?term=credit%20card&amp;page=1&amp;position=26&amp;page=1&amp;position=26&amp;related_id=4289322&amp;origin=search</a:t>
            </a:r>
          </a:p>
          <a:p>
            <a:r>
              <a:rPr lang="en-US" dirty="0"/>
              <a:t>https://www.flaticon.com/free-icon/healthcare_2966486?term=insurance&amp;page=1&amp;position=10&amp;page=1&amp;position=10&amp;related_id=2966486&amp;origin=search</a:t>
            </a:r>
            <a:br>
              <a:rPr lang="en-US" dirty="0"/>
            </a:b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7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Trainer Notes: </a:t>
            </a: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Project Statement</a:t>
            </a: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Aura must: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Predict bike-sharing demand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Classify if the income of the person is above 50k or below 50k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Cluster credit card users into different groups to find any meaningful patterns by using PCA to reduce feature dimensionality.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Detects early Sepsis disease using Bagging and Boosting methods.</a:t>
            </a:r>
          </a:p>
          <a:p>
            <a:pPr algn="just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Build a recommendation engine to recommend movies to users.</a:t>
            </a:r>
          </a:p>
          <a:p>
            <a:r>
              <a:rPr lang="en-US" dirty="0"/>
              <a:t>https://www.freepik.com/free-vector/data-extraction-concept-illustration_12079896.htm#query=machine%20learning&amp;position=4&amp;from_view=search</a:t>
            </a:r>
            <a:br>
              <a:rPr lang="en-US" dirty="0"/>
            </a:b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2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Trainer 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This is the dataset description for the current week’s task.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Note:</a:t>
            </a:r>
            <a:r>
              <a:rPr lang="en-US" sz="1200" b="0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 Use </a:t>
            </a:r>
            <a:r>
              <a:rPr lang="en-US" sz="12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rating.csv</a:t>
            </a:r>
            <a:r>
              <a:rPr lang="en-US" sz="1200" b="0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 and </a:t>
            </a:r>
            <a:r>
              <a:rPr lang="en-US" sz="1200" b="1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movies.csv </a:t>
            </a:r>
            <a:r>
              <a:rPr lang="en-US" sz="1200" b="0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for this task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b="0"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285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Trainer 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This is the dataset description for the current week’s task.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Note:</a:t>
            </a:r>
            <a:r>
              <a:rPr lang="en-US" sz="1200" b="0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 Use </a:t>
            </a:r>
            <a:r>
              <a:rPr lang="en-US" sz="12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rating.csv</a:t>
            </a:r>
            <a:r>
              <a:rPr lang="en-US" sz="1200" b="0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 and </a:t>
            </a:r>
            <a:r>
              <a:rPr lang="en-US" sz="1200" b="1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movies.csv </a:t>
            </a:r>
            <a:r>
              <a:rPr lang="en-US" sz="1200" b="0" i="1" u="none" strike="noStrike" dirty="0">
                <a:solidFill>
                  <a:srgbClr val="24292F"/>
                </a:solidFill>
                <a:effectLst/>
                <a:latin typeface="Calibri" panose="020F0502020204030204" pitchFamily="34" charset="0"/>
              </a:rPr>
              <a:t>for this task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</a:t>
            </a:r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2110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8286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294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663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987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;p23">
            <a:extLst>
              <a:ext uri="{FF2B5EF4-FFF2-40B4-BE49-F238E27FC236}">
                <a16:creationId xmlns:a16="http://schemas.microsoft.com/office/drawing/2014/main" id="{834CC4DE-0763-8025-AA90-27EF7E729AA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4;p23">
            <a:extLst>
              <a:ext uri="{FF2B5EF4-FFF2-40B4-BE49-F238E27FC236}">
                <a16:creationId xmlns:a16="http://schemas.microsoft.com/office/drawing/2014/main" id="{9FA7D4E6-7E77-9E60-1C49-3AA054DC01A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userDrawn="1">
  <p:cSld name="Topic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5;p28">
            <a:extLst>
              <a:ext uri="{FF2B5EF4-FFF2-40B4-BE49-F238E27FC236}">
                <a16:creationId xmlns:a16="http://schemas.microsoft.com/office/drawing/2014/main" id="{922042B3-5AB7-72B7-0DAF-AC67104D5D4C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685876E7-26CA-8B0D-CE54-AD50B0A65BA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60;p29">
            <a:extLst>
              <a:ext uri="{FF2B5EF4-FFF2-40B4-BE49-F238E27FC236}">
                <a16:creationId xmlns:a16="http://schemas.microsoft.com/office/drawing/2014/main" id="{B5B4C2BB-39B9-896C-31B0-43291A57883A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1902091" y="1808291"/>
            <a:ext cx="12451817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/>
          <p:nvPr/>
        </p:nvSpPr>
        <p:spPr>
          <a:xfrm>
            <a:off x="16375347" y="785880"/>
            <a:ext cx="617018" cy="617018"/>
          </a:xfrm>
          <a:prstGeom prst="ellipse">
            <a:avLst/>
          </a:prstGeom>
          <a:solidFill>
            <a:srgbClr val="028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9"/>
          <p:cNvSpPr/>
          <p:nvPr/>
        </p:nvSpPr>
        <p:spPr>
          <a:xfrm>
            <a:off x="16375347" y="2367024"/>
            <a:ext cx="617018" cy="617018"/>
          </a:xfrm>
          <a:prstGeom prst="ellipse">
            <a:avLst/>
          </a:prstGeom>
          <a:solidFill>
            <a:srgbClr val="44A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9"/>
          <p:cNvSpPr/>
          <p:nvPr/>
        </p:nvSpPr>
        <p:spPr>
          <a:xfrm>
            <a:off x="16375347" y="1576452"/>
            <a:ext cx="617018" cy="617018"/>
          </a:xfrm>
          <a:prstGeom prst="ellipse">
            <a:avLst/>
          </a:prstGeom>
          <a:solidFill>
            <a:srgbClr val="3785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9"/>
          <p:cNvSpPr/>
          <p:nvPr/>
        </p:nvSpPr>
        <p:spPr>
          <a:xfrm>
            <a:off x="16375347" y="5529312"/>
            <a:ext cx="617018" cy="617018"/>
          </a:xfrm>
          <a:prstGeom prst="ellipse">
            <a:avLst/>
          </a:prstGeom>
          <a:solidFill>
            <a:srgbClr val="EFC8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9"/>
          <p:cNvSpPr/>
          <p:nvPr/>
        </p:nvSpPr>
        <p:spPr>
          <a:xfrm>
            <a:off x="16375347" y="4738740"/>
            <a:ext cx="617018" cy="617018"/>
          </a:xfrm>
          <a:prstGeom prst="ellipse">
            <a:avLst/>
          </a:prstGeom>
          <a:solidFill>
            <a:srgbClr val="C7D3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16375347" y="6319884"/>
            <a:ext cx="617018" cy="617018"/>
          </a:xfrm>
          <a:prstGeom prst="ellipse">
            <a:avLst/>
          </a:prstGeom>
          <a:solidFill>
            <a:srgbClr val="CF5C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16375347" y="3157596"/>
            <a:ext cx="617018" cy="617018"/>
          </a:xfrm>
          <a:prstGeom prst="ellipse">
            <a:avLst/>
          </a:prstGeom>
          <a:solidFill>
            <a:srgbClr val="162E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16375347" y="3948168"/>
            <a:ext cx="617018" cy="617018"/>
          </a:xfrm>
          <a:prstGeom prst="ellipse">
            <a:avLst/>
          </a:prstGeom>
          <a:solidFill>
            <a:srgbClr val="FF89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16375347" y="7110456"/>
            <a:ext cx="617018" cy="617018"/>
          </a:xfrm>
          <a:prstGeom prst="ellipse">
            <a:avLst/>
          </a:prstGeom>
          <a:solidFill>
            <a:srgbClr val="8397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/>
          <p:nvPr/>
        </p:nvSpPr>
        <p:spPr>
          <a:xfrm>
            <a:off x="16375347" y="7901030"/>
            <a:ext cx="617018" cy="617018"/>
          </a:xfrm>
          <a:prstGeom prst="ellipse">
            <a:avLst/>
          </a:prstGeom>
          <a:solidFill>
            <a:srgbClr val="009FB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 userDrawn="1">
  <p:cSld name="1_Custom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5;p28">
            <a:extLst>
              <a:ext uri="{FF2B5EF4-FFF2-40B4-BE49-F238E27FC236}">
                <a16:creationId xmlns:a16="http://schemas.microsoft.com/office/drawing/2014/main" id="{9184E2CE-4AD4-54AB-C417-C191214AB0C8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5D38BCC5-645D-6EB4-3DB7-D35BF453B1D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1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1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1117600" y="8475663"/>
            <a:ext cx="36576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5384800" y="8475663"/>
            <a:ext cx="5486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11480800" y="8475663"/>
            <a:ext cx="36576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F8D0D4-77F1-D721-796D-5BDBB21BE1C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dirty="0"/>
              <a:t>Capstone Session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0" cy="914400"/>
          </a:xfr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Machine Learning for Modeling</a:t>
            </a:r>
          </a:p>
        </p:txBody>
      </p:sp>
    </p:spTree>
    <p:extLst>
      <p:ext uri="{BB962C8B-B14F-4D97-AF65-F5344CB8AC3E}">
        <p14:creationId xmlns:p14="http://schemas.microsoft.com/office/powerpoint/2010/main" val="261296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en-US" dirty="0"/>
              <a:t>Machine Learning for Strategic Decision-Making</a:t>
            </a:r>
            <a:endParaRPr dirty="0"/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8142" y="760639"/>
            <a:ext cx="11479716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AAB92152-DAE2-4E60-8126-B46EF40EB5AC}"/>
              </a:ext>
            </a:extLst>
          </p:cNvPr>
          <p:cNvSpPr txBox="1">
            <a:spLocks/>
          </p:cNvSpPr>
          <p:nvPr/>
        </p:nvSpPr>
        <p:spPr>
          <a:xfrm>
            <a:off x="1662602" y="1358457"/>
            <a:ext cx="12930795" cy="1102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r>
              <a:rPr lang="en-US" sz="2400" b="0" i="1" u="none" strike="noStrike" dirty="0">
                <a:solidFill>
                  <a:srgbClr val="3C4043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intelligence provided by Aura will help customers make decisions for their omnichannel marketing and customer acquisition programs. </a:t>
            </a:r>
          </a:p>
          <a:p>
            <a:pPr algn="ctr" rtl="0">
              <a:spcBef>
                <a:spcPts val="1000"/>
              </a:spcBef>
              <a:spcAft>
                <a:spcPts val="0"/>
              </a:spcAft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AC04756-12E7-451D-B1BF-2A34F227C567}"/>
              </a:ext>
            </a:extLst>
          </p:cNvPr>
          <p:cNvGrpSpPr/>
          <p:nvPr/>
        </p:nvGrpSpPr>
        <p:grpSpPr>
          <a:xfrm>
            <a:off x="1785389" y="3574502"/>
            <a:ext cx="12685222" cy="3857034"/>
            <a:chOff x="1113905" y="5286966"/>
            <a:chExt cx="12685222" cy="385703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AB749A1-119B-4522-9398-C9656175A705}"/>
                </a:ext>
              </a:extLst>
            </p:cNvPr>
            <p:cNvGrpSpPr/>
            <p:nvPr/>
          </p:nvGrpSpPr>
          <p:grpSpPr>
            <a:xfrm>
              <a:off x="1523350" y="6555300"/>
              <a:ext cx="2084486" cy="1864719"/>
              <a:chOff x="2088615" y="3987967"/>
              <a:chExt cx="2084486" cy="1864719"/>
            </a:xfrm>
          </p:grpSpPr>
          <p:pic>
            <p:nvPicPr>
              <p:cNvPr id="8" name="Graphic 7">
                <a:extLst>
                  <a:ext uri="{FF2B5EF4-FFF2-40B4-BE49-F238E27FC236}">
                    <a16:creationId xmlns:a16="http://schemas.microsoft.com/office/drawing/2014/main" id="{F9E5FF72-53C3-4553-A93B-F0066D329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1744" y="3987967"/>
                <a:ext cx="1260000" cy="1260000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270669-DFFE-4ADA-9579-7F76D640ED25}"/>
                  </a:ext>
                </a:extLst>
              </p:cNvPr>
              <p:cNvSpPr txBox="1"/>
              <p:nvPr/>
            </p:nvSpPr>
            <p:spPr>
              <a:xfrm>
                <a:off x="2088615" y="5398010"/>
                <a:ext cx="2084486" cy="45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Bike Rentals</a:t>
                </a:r>
                <a:endParaRPr lang="en-I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987A4EF-29D3-430E-BDFB-B06DCA8DA7EB}"/>
                </a:ext>
              </a:extLst>
            </p:cNvPr>
            <p:cNvGrpSpPr/>
            <p:nvPr/>
          </p:nvGrpSpPr>
          <p:grpSpPr>
            <a:xfrm>
              <a:off x="4363626" y="6555300"/>
              <a:ext cx="2084486" cy="2177783"/>
              <a:chOff x="5080079" y="3987967"/>
              <a:chExt cx="2084486" cy="2177783"/>
            </a:xfrm>
          </p:grpSpPr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0228AAA5-9658-4518-B41E-D2AEB5FDEB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333206" y="3987967"/>
                <a:ext cx="1260000" cy="126000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D8CC177-EC70-41DD-A8EB-D9D7B4001BA3}"/>
                  </a:ext>
                </a:extLst>
              </p:cNvPr>
              <p:cNvSpPr txBox="1"/>
              <p:nvPr/>
            </p:nvSpPr>
            <p:spPr>
              <a:xfrm>
                <a:off x="5080079" y="5325135"/>
                <a:ext cx="2084486" cy="840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Realtor Association</a:t>
                </a:r>
                <a:endParaRPr lang="en-I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8C24318-1D42-43BC-B424-BB082AE3B0E9}"/>
                </a:ext>
              </a:extLst>
            </p:cNvPr>
            <p:cNvGrpSpPr/>
            <p:nvPr/>
          </p:nvGrpSpPr>
          <p:grpSpPr>
            <a:xfrm>
              <a:off x="7132278" y="6555300"/>
              <a:ext cx="2084486" cy="2199983"/>
              <a:chOff x="10220753" y="3987967"/>
              <a:chExt cx="2084486" cy="2199983"/>
            </a:xfrm>
          </p:grpSpPr>
          <p:pic>
            <p:nvPicPr>
              <p:cNvPr id="32" name="Graphic 31">
                <a:extLst>
                  <a:ext uri="{FF2B5EF4-FFF2-40B4-BE49-F238E27FC236}">
                    <a16:creationId xmlns:a16="http://schemas.microsoft.com/office/drawing/2014/main" id="{9F232498-17AD-4B79-A53F-C25C44F97B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545502" y="3987967"/>
                <a:ext cx="1260000" cy="1260000"/>
              </a:xfrm>
              <a:prstGeom prst="rect">
                <a:avLst/>
              </a:prstGeom>
            </p:spPr>
          </p:pic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06FE93-736E-46C3-963C-795A12B5D113}"/>
                  </a:ext>
                </a:extLst>
              </p:cNvPr>
              <p:cNvSpPr txBox="1"/>
              <p:nvPr/>
            </p:nvSpPr>
            <p:spPr>
              <a:xfrm>
                <a:off x="10220753" y="5347335"/>
                <a:ext cx="2084486" cy="840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Credit Card Agency</a:t>
                </a:r>
                <a:endParaRPr lang="en-I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467481B-D5CC-4D91-96F6-BA8FE2EFD9CF}"/>
                </a:ext>
              </a:extLst>
            </p:cNvPr>
            <p:cNvGrpSpPr/>
            <p:nvPr/>
          </p:nvGrpSpPr>
          <p:grpSpPr>
            <a:xfrm>
              <a:off x="10105374" y="6555300"/>
              <a:ext cx="2084486" cy="1984813"/>
              <a:chOff x="6116799" y="3987967"/>
              <a:chExt cx="2084486" cy="1984813"/>
            </a:xfrm>
          </p:grpSpPr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02D74D4E-E889-4050-B683-86BB963E01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308726" y="3987967"/>
                <a:ext cx="1260000" cy="1260000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75A6B3-96B4-41ED-B7E9-EE2B1CE13FC8}"/>
                  </a:ext>
                </a:extLst>
              </p:cNvPr>
              <p:cNvSpPr txBox="1"/>
              <p:nvPr/>
            </p:nvSpPr>
            <p:spPr>
              <a:xfrm>
                <a:off x="6116799" y="5518104"/>
                <a:ext cx="2084486" cy="4546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Startups</a:t>
                </a:r>
                <a:endParaRPr lang="en-I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B4DEB6E-03BD-42CC-95AA-0A762FB1D620}"/>
                </a:ext>
              </a:extLst>
            </p:cNvPr>
            <p:cNvSpPr/>
            <p:nvPr/>
          </p:nvSpPr>
          <p:spPr>
            <a:xfrm>
              <a:off x="1113905" y="5659717"/>
              <a:ext cx="12685222" cy="3484283"/>
            </a:xfrm>
            <a:prstGeom prst="roundRect">
              <a:avLst/>
            </a:prstGeom>
            <a:noFill/>
            <a:ln>
              <a:solidFill>
                <a:srgbClr val="162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F4EAE97-C9C7-4902-A8C6-E71EADDA2D54}"/>
                </a:ext>
              </a:extLst>
            </p:cNvPr>
            <p:cNvSpPr/>
            <p:nvPr/>
          </p:nvSpPr>
          <p:spPr>
            <a:xfrm>
              <a:off x="4807658" y="5286966"/>
              <a:ext cx="5297716" cy="684415"/>
            </a:xfrm>
            <a:prstGeom prst="roundRect">
              <a:avLst/>
            </a:prstGeom>
            <a:solidFill>
              <a:srgbClr val="C7D3DD"/>
            </a:solidFill>
            <a:ln>
              <a:solidFill>
                <a:srgbClr val="162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Aura’s early adopter customers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914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13252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en-US" dirty="0"/>
              <a:t>Project Statement</a:t>
            </a:r>
            <a:endParaRPr dirty="0"/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4000" y="760639"/>
            <a:ext cx="460800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7;p3">
            <a:extLst>
              <a:ext uri="{FF2B5EF4-FFF2-40B4-BE49-F238E27FC236}">
                <a16:creationId xmlns:a16="http://schemas.microsoft.com/office/drawing/2014/main" id="{AAB92152-DAE2-4E60-8126-B46EF40EB5AC}"/>
              </a:ext>
            </a:extLst>
          </p:cNvPr>
          <p:cNvSpPr txBox="1">
            <a:spLocks/>
          </p:cNvSpPr>
          <p:nvPr/>
        </p:nvSpPr>
        <p:spPr>
          <a:xfrm>
            <a:off x="1662602" y="1358457"/>
            <a:ext cx="12930795" cy="8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 rtl="0"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Aura must do the following: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948B0-41DC-411E-8AAA-97AACCBFB765}"/>
              </a:ext>
            </a:extLst>
          </p:cNvPr>
          <p:cNvGrpSpPr/>
          <p:nvPr/>
        </p:nvGrpSpPr>
        <p:grpSpPr>
          <a:xfrm>
            <a:off x="1326372" y="2773516"/>
            <a:ext cx="13603256" cy="4691732"/>
            <a:chOff x="797262" y="3172523"/>
            <a:chExt cx="13603256" cy="469173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F127CC7-2B63-4017-BA06-05E3F66920BF}"/>
                </a:ext>
              </a:extLst>
            </p:cNvPr>
            <p:cNvGrpSpPr/>
            <p:nvPr/>
          </p:nvGrpSpPr>
          <p:grpSpPr>
            <a:xfrm>
              <a:off x="7779644" y="3172523"/>
              <a:ext cx="6620874" cy="4691732"/>
              <a:chOff x="7779644" y="3172523"/>
              <a:chExt cx="6620874" cy="4691732"/>
            </a:xfrm>
          </p:grpSpPr>
          <p:sp>
            <p:nvSpPr>
              <p:cNvPr id="18" name="Google Shape;844;p80">
                <a:extLst>
                  <a:ext uri="{FF2B5EF4-FFF2-40B4-BE49-F238E27FC236}">
                    <a16:creationId xmlns:a16="http://schemas.microsoft.com/office/drawing/2014/main" id="{CD42C706-AE32-4AF3-A517-C5CA48BB334F}"/>
                  </a:ext>
                </a:extLst>
              </p:cNvPr>
              <p:cNvSpPr/>
              <p:nvPr/>
            </p:nvSpPr>
            <p:spPr>
              <a:xfrm>
                <a:off x="8516707" y="5783891"/>
                <a:ext cx="5883811" cy="7746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0" rIns="91425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40404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Cluster credit card users</a:t>
                </a:r>
                <a:endParaRPr dirty="0"/>
              </a:p>
            </p:txBody>
          </p:sp>
          <p:sp>
            <p:nvSpPr>
              <p:cNvPr id="19" name="Google Shape;845;p80">
                <a:extLst>
                  <a:ext uri="{FF2B5EF4-FFF2-40B4-BE49-F238E27FC236}">
                    <a16:creationId xmlns:a16="http://schemas.microsoft.com/office/drawing/2014/main" id="{A7E7164E-1654-4E3B-BDA1-23BA89660406}"/>
                  </a:ext>
                </a:extLst>
              </p:cNvPr>
              <p:cNvSpPr/>
              <p:nvPr/>
            </p:nvSpPr>
            <p:spPr>
              <a:xfrm>
                <a:off x="8516707" y="4478207"/>
                <a:ext cx="5883807" cy="7746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0" rIns="91425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40404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Classify incomes</a:t>
                </a:r>
                <a:endParaRPr dirty="0"/>
              </a:p>
            </p:txBody>
          </p:sp>
          <p:sp>
            <p:nvSpPr>
              <p:cNvPr id="21" name="Google Shape;847;p80">
                <a:extLst>
                  <a:ext uri="{FF2B5EF4-FFF2-40B4-BE49-F238E27FC236}">
                    <a16:creationId xmlns:a16="http://schemas.microsoft.com/office/drawing/2014/main" id="{79824AD0-FE9F-4D0D-A408-369C0F2E3DF0}"/>
                  </a:ext>
                </a:extLst>
              </p:cNvPr>
              <p:cNvSpPr/>
              <p:nvPr/>
            </p:nvSpPr>
            <p:spPr>
              <a:xfrm>
                <a:off x="8516708" y="3172523"/>
                <a:ext cx="5883806" cy="7746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0" rIns="91425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3F3F3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Predict bike-sharing demand</a:t>
                </a:r>
                <a:endParaRPr sz="2200" b="0" i="0" u="none" strike="noStrike" cap="none" dirty="0">
                  <a:solidFill>
                    <a:srgbClr val="40404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13" name="Google Shape;849;p80">
                <a:extLst>
                  <a:ext uri="{FF2B5EF4-FFF2-40B4-BE49-F238E27FC236}">
                    <a16:creationId xmlns:a16="http://schemas.microsoft.com/office/drawing/2014/main" id="{1C78E401-7EB6-48C6-9B17-CF06ED484F1A}"/>
                  </a:ext>
                </a:extLst>
              </p:cNvPr>
              <p:cNvCxnSpPr>
                <a:cxnSpLocks/>
                <a:stCxn id="14" idx="4"/>
                <a:endCxn id="28" idx="0"/>
              </p:cNvCxnSpPr>
              <p:nvPr/>
            </p:nvCxnSpPr>
            <p:spPr>
              <a:xfrm>
                <a:off x="8014324" y="3962159"/>
                <a:ext cx="0" cy="3354024"/>
              </a:xfrm>
              <a:prstGeom prst="straightConnector1">
                <a:avLst/>
              </a:prstGeom>
              <a:noFill/>
              <a:ln w="38100" cap="flat" cmpd="sng">
                <a:solidFill>
                  <a:srgbClr val="848FA5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</p:cxnSp>
          <p:sp>
            <p:nvSpPr>
              <p:cNvPr id="14" name="Google Shape;850;p80">
                <a:extLst>
                  <a:ext uri="{FF2B5EF4-FFF2-40B4-BE49-F238E27FC236}">
                    <a16:creationId xmlns:a16="http://schemas.microsoft.com/office/drawing/2014/main" id="{3D9C7B08-329D-49CB-93B4-58C85B628D32}"/>
                  </a:ext>
                </a:extLst>
              </p:cNvPr>
              <p:cNvSpPr/>
              <p:nvPr/>
            </p:nvSpPr>
            <p:spPr>
              <a:xfrm>
                <a:off x="7779644" y="3492799"/>
                <a:ext cx="469360" cy="469360"/>
              </a:xfrm>
              <a:prstGeom prst="ellipse">
                <a:avLst/>
              </a:prstGeom>
              <a:solidFill>
                <a:srgbClr val="FF896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851;p80">
                <a:extLst>
                  <a:ext uri="{FF2B5EF4-FFF2-40B4-BE49-F238E27FC236}">
                    <a16:creationId xmlns:a16="http://schemas.microsoft.com/office/drawing/2014/main" id="{EC1EF550-93A7-4DA8-A8CF-81EEA73076E6}"/>
                  </a:ext>
                </a:extLst>
              </p:cNvPr>
              <p:cNvSpPr/>
              <p:nvPr/>
            </p:nvSpPr>
            <p:spPr>
              <a:xfrm>
                <a:off x="7779644" y="4448645"/>
                <a:ext cx="469360" cy="469360"/>
              </a:xfrm>
              <a:prstGeom prst="ellipse">
                <a:avLst/>
              </a:prstGeom>
              <a:solidFill>
                <a:srgbClr val="FF896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852;p80">
                <a:extLst>
                  <a:ext uri="{FF2B5EF4-FFF2-40B4-BE49-F238E27FC236}">
                    <a16:creationId xmlns:a16="http://schemas.microsoft.com/office/drawing/2014/main" id="{5FEE0648-64C5-4C5A-9178-5C47CCB87466}"/>
                  </a:ext>
                </a:extLst>
              </p:cNvPr>
              <p:cNvSpPr/>
              <p:nvPr/>
            </p:nvSpPr>
            <p:spPr>
              <a:xfrm>
                <a:off x="7779644" y="5404491"/>
                <a:ext cx="469360" cy="469360"/>
              </a:xfrm>
              <a:prstGeom prst="ellipse">
                <a:avLst/>
              </a:prstGeom>
              <a:solidFill>
                <a:srgbClr val="FF896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853;p80">
                <a:extLst>
                  <a:ext uri="{FF2B5EF4-FFF2-40B4-BE49-F238E27FC236}">
                    <a16:creationId xmlns:a16="http://schemas.microsoft.com/office/drawing/2014/main" id="{83EA7D31-4D83-46E0-933C-CD17E40FBA23}"/>
                  </a:ext>
                </a:extLst>
              </p:cNvPr>
              <p:cNvSpPr/>
              <p:nvPr/>
            </p:nvSpPr>
            <p:spPr>
              <a:xfrm>
                <a:off x="7779644" y="6360337"/>
                <a:ext cx="469360" cy="469360"/>
              </a:xfrm>
              <a:prstGeom prst="ellipse">
                <a:avLst/>
              </a:prstGeom>
              <a:solidFill>
                <a:srgbClr val="FF896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853;p80">
                <a:extLst>
                  <a:ext uri="{FF2B5EF4-FFF2-40B4-BE49-F238E27FC236}">
                    <a16:creationId xmlns:a16="http://schemas.microsoft.com/office/drawing/2014/main" id="{E4274F5E-0178-4739-BF8C-14A1627C74F9}"/>
                  </a:ext>
                </a:extLst>
              </p:cNvPr>
              <p:cNvSpPr/>
              <p:nvPr/>
            </p:nvSpPr>
            <p:spPr>
              <a:xfrm>
                <a:off x="7779644" y="7316183"/>
                <a:ext cx="469360" cy="469360"/>
              </a:xfrm>
              <a:prstGeom prst="ellipse">
                <a:avLst/>
              </a:prstGeom>
              <a:solidFill>
                <a:srgbClr val="FF896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846;p80">
                <a:extLst>
                  <a:ext uri="{FF2B5EF4-FFF2-40B4-BE49-F238E27FC236}">
                    <a16:creationId xmlns:a16="http://schemas.microsoft.com/office/drawing/2014/main" id="{D2B37BA6-B67D-4772-8EB6-9C3276115C97}"/>
                  </a:ext>
                </a:extLst>
              </p:cNvPr>
              <p:cNvSpPr/>
              <p:nvPr/>
            </p:nvSpPr>
            <p:spPr>
              <a:xfrm>
                <a:off x="8516706" y="7089575"/>
                <a:ext cx="5883805" cy="7746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0" rIns="91425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5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en-US" sz="2200" b="0" i="0" u="none" strike="noStrike" cap="none" dirty="0">
                    <a:solidFill>
                      <a:srgbClr val="40404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Build a recommendation engine</a:t>
                </a:r>
                <a:endParaRPr dirty="0"/>
              </a:p>
            </p:txBody>
          </p:sp>
        </p:grpSp>
        <p:pic>
          <p:nvPicPr>
            <p:cNvPr id="31" name="Picture 30" descr="Graphical user interface&#10;&#10;Description automatically generated with medium confidence">
              <a:extLst>
                <a:ext uri="{FF2B5EF4-FFF2-40B4-BE49-F238E27FC236}">
                  <a16:creationId xmlns:a16="http://schemas.microsoft.com/office/drawing/2014/main" id="{85753B01-524F-40F5-AE85-DD987BE7C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97262" y="3422184"/>
              <a:ext cx="6480000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911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Session 8</a:t>
            </a:r>
            <a:r>
              <a:rPr lang="en-US" dirty="0"/>
              <a:t>: Dataset Description</a:t>
            </a:r>
            <a:endParaRPr dirty="0"/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0400" y="740477"/>
            <a:ext cx="7315200" cy="365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91;p13">
            <a:extLst>
              <a:ext uri="{FF2B5EF4-FFF2-40B4-BE49-F238E27FC236}">
                <a16:creationId xmlns:a16="http://schemas.microsoft.com/office/drawing/2014/main" id="{93F595F4-2CF6-4005-B770-248F446FB9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838144"/>
              </p:ext>
            </p:extLst>
          </p:nvPr>
        </p:nvGraphicFramePr>
        <p:xfrm>
          <a:off x="3405874" y="2194946"/>
          <a:ext cx="9444251" cy="483450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7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5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7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Open Sans"/>
                        </a:rPr>
                        <a:t>Variable</a:t>
                      </a:r>
                      <a:endParaRPr sz="2200" b="1" u="none" strike="noStrike" cap="none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121925" marR="121925" marT="60975" marB="6097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Open Sans"/>
                        </a:rPr>
                        <a:t>Description</a:t>
                      </a:r>
                      <a:endParaRPr sz="2200" b="1" u="none" strike="noStrike" cap="none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121925" marR="121925" marT="60975" marB="609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724">
                <a:tc>
                  <a:txBody>
                    <a:bodyPr/>
                    <a:lstStyle/>
                    <a:p>
                      <a:pPr rtl="0" fontAlgn="t">
                        <a:spcBef>
                          <a:spcPts val="110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userId 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10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unique Id represents every user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772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movieId 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Unique ID representing a movie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607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rating 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Represents the rating given by the user to the corresponding movie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772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timestamp 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The time at which the rating was recorded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6F01CAD-5586-4C93-9E5F-BC9B115F9CCD}"/>
              </a:ext>
            </a:extLst>
          </p:cNvPr>
          <p:cNvSpPr txBox="1"/>
          <p:nvPr/>
        </p:nvSpPr>
        <p:spPr>
          <a:xfrm>
            <a:off x="7065966" y="1421159"/>
            <a:ext cx="2124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ratings.csv</a:t>
            </a:r>
          </a:p>
        </p:txBody>
      </p:sp>
    </p:spTree>
    <p:extLst>
      <p:ext uri="{BB962C8B-B14F-4D97-AF65-F5344CB8AC3E}">
        <p14:creationId xmlns:p14="http://schemas.microsoft.com/office/powerpoint/2010/main" val="305809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Session 8</a:t>
            </a:r>
            <a:r>
              <a:rPr lang="en-US" dirty="0"/>
              <a:t>: Dataset Description</a:t>
            </a:r>
            <a:endParaRPr dirty="0"/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0400" y="740477"/>
            <a:ext cx="7315200" cy="365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91;p13">
            <a:extLst>
              <a:ext uri="{FF2B5EF4-FFF2-40B4-BE49-F238E27FC236}">
                <a16:creationId xmlns:a16="http://schemas.microsoft.com/office/drawing/2014/main" id="{93F595F4-2CF6-4005-B770-248F446FB9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560575"/>
              </p:ext>
            </p:extLst>
          </p:nvPr>
        </p:nvGraphicFramePr>
        <p:xfrm>
          <a:off x="3405875" y="2194946"/>
          <a:ext cx="9444251" cy="45678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78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5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59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Open Sans"/>
                        </a:rPr>
                        <a:t>Variable</a:t>
                      </a:r>
                      <a:endParaRPr sz="2200" b="1" u="none" strike="noStrike" cap="none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121925" marR="121925" marT="60975" marB="60975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2400"/>
                        <a:buFont typeface="Calibri"/>
                        <a:buNone/>
                      </a:pPr>
                      <a:r>
                        <a:rPr lang="en-IN" sz="22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Open Sans"/>
                        </a:rPr>
                        <a:t>Description</a:t>
                      </a:r>
                      <a:endParaRPr sz="2200" b="1" u="none" strike="noStrike" cap="none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Open Sans"/>
                      </a:endParaRPr>
                    </a:p>
                  </a:txBody>
                  <a:tcPr marL="121925" marR="121925" marT="60975" marB="60975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994">
                <a:tc>
                  <a:txBody>
                    <a:bodyPr/>
                    <a:lstStyle/>
                    <a:p>
                      <a:pPr rtl="0" fontAlgn="t">
                        <a:spcBef>
                          <a:spcPts val="110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movieId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10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unique Id represents every user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82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title 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Movie name which is represented by the corresponding movieId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99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genres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Represents the category of the movie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5994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timestamp 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sz="2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The time at which the rating was recorded</a:t>
                      </a:r>
                      <a:endParaRPr 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6F01CAD-5586-4C93-9E5F-BC9B115F9CCD}"/>
              </a:ext>
            </a:extLst>
          </p:cNvPr>
          <p:cNvSpPr txBox="1"/>
          <p:nvPr/>
        </p:nvSpPr>
        <p:spPr>
          <a:xfrm>
            <a:off x="7065966" y="1421159"/>
            <a:ext cx="2124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movies.csv</a:t>
            </a:r>
          </a:p>
        </p:txBody>
      </p:sp>
    </p:spTree>
    <p:extLst>
      <p:ext uri="{BB962C8B-B14F-4D97-AF65-F5344CB8AC3E}">
        <p14:creationId xmlns:p14="http://schemas.microsoft.com/office/powerpoint/2010/main" val="1485045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Session 8: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Movie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Recommendation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Techniques</a:t>
            </a:r>
            <a:endParaRPr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1902091" y="1592165"/>
            <a:ext cx="12451817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indent="-230400" rtl="0" fontAlgn="base">
              <a:lnSpc>
                <a:spcPct val="114000"/>
              </a:lnSpc>
              <a:spcAft>
                <a:spcPts val="0"/>
              </a:spcAft>
            </a:pPr>
            <a:r>
              <a:rPr lang="en-US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Task: </a:t>
            </a:r>
            <a:r>
              <a:rPr lang="en-US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Study the various Recommendation Techniques for recommending movies using movies.csv, ratings.csv datasets </a:t>
            </a:r>
          </a:p>
          <a:p>
            <a:pPr indent="-2304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Load movies.csv and ratings.csv dataset</a:t>
            </a:r>
          </a:p>
          <a:p>
            <a:pPr indent="-2304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Merge both data frames on movieid</a:t>
            </a:r>
          </a:p>
          <a:p>
            <a:pPr indent="-2304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User-Item Matrix (Hint: Use pandas pivot_table method with index = 'userId', columns = 'title', values = 'rating' )</a:t>
            </a:r>
          </a:p>
          <a:p>
            <a:pPr indent="-230400" rtl="0" fontAlgn="base">
              <a:lnSpc>
                <a:spcPct val="114000"/>
              </a:lnSpc>
              <a:spcAft>
                <a:spcPts val="0"/>
              </a:spcAft>
            </a:pPr>
            <a:endParaRPr lang="en-US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1306" y="760639"/>
            <a:ext cx="10167980" cy="365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06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Session 8: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Movie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Recommendation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Techniques</a:t>
            </a:r>
            <a:endParaRPr dirty="0"/>
          </a:p>
        </p:txBody>
      </p:sp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1902091" y="1592164"/>
            <a:ext cx="12451817" cy="5856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indent="-2304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 User-based Collaborative Filtering</a:t>
            </a:r>
          </a:p>
          <a:p>
            <a:pPr marL="914400" lvl="3" indent="-230400" fontAlgn="base">
              <a:lnSpc>
                <a:spcPct val="114000"/>
              </a:lnSpc>
              <a:spcBef>
                <a:spcPts val="1000"/>
              </a:spcBef>
              <a:buSzPts val="2800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Fill the row-wise NaNs in the User-Item Matrix with the corresponding user's mean ratings, and find the Pearson correlation between users</a:t>
            </a:r>
          </a:p>
          <a:p>
            <a:pPr marL="914400" lvl="3" indent="-230400" fontAlgn="base">
              <a:lnSpc>
                <a:spcPct val="114000"/>
              </a:lnSpc>
              <a:spcBef>
                <a:spcPts val="1000"/>
              </a:spcBef>
              <a:buSzPts val="2800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Choose the correlation of all users with only User 1</a:t>
            </a:r>
          </a:p>
          <a:p>
            <a:pPr marL="914400" lvl="3" indent="-230400" fontAlgn="base">
              <a:lnSpc>
                <a:spcPct val="114000"/>
              </a:lnSpc>
              <a:spcBef>
                <a:spcPts val="1000"/>
              </a:spcBef>
              <a:buSzPts val="2800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Sort the User 1 correlation in the descending order</a:t>
            </a:r>
          </a:p>
          <a:p>
            <a:pPr marL="914400" lvl="3" indent="-230400" fontAlgn="base">
              <a:lnSpc>
                <a:spcPct val="114000"/>
              </a:lnSpc>
              <a:spcBef>
                <a:spcPts val="1000"/>
              </a:spcBef>
              <a:buSzPts val="2800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Drop the NaN values generated in the correlation matrix</a:t>
            </a:r>
          </a:p>
          <a:p>
            <a:pPr marL="914400" lvl="3" indent="-230400" fontAlgn="base">
              <a:lnSpc>
                <a:spcPct val="114000"/>
              </a:lnSpc>
              <a:spcBef>
                <a:spcPts val="1000"/>
              </a:spcBef>
              <a:buSzPts val="2800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Choose the top 50 users that are highly correlated to User 1</a:t>
            </a:r>
          </a:p>
          <a:p>
            <a:pPr marL="914400" lvl="3" indent="-230400" fontAlgn="base">
              <a:lnSpc>
                <a:spcPct val="114000"/>
              </a:lnSpc>
              <a:spcBef>
                <a:spcPts val="1000"/>
              </a:spcBef>
              <a:buSzPts val="2800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Predict the rating that User 1 might give for the movie with movieid 32 based on the top 50 user correlation matrix</a:t>
            </a:r>
          </a:p>
          <a:p>
            <a:pPr marL="684000" lvl="3" indent="0" fontAlgn="base">
              <a:lnSpc>
                <a:spcPct val="114000"/>
              </a:lnSpc>
              <a:spcBef>
                <a:spcPts val="1000"/>
              </a:spcBef>
              <a:buSzPts val="2800"/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(Hint: Predicted rating = sum of [(weights) * (ratings)] / sum of (weights ). Here, weights is the correlation of the corresponding user with the first user). That is, the predicted rating is calculated as the weighted average of k similar users</a:t>
            </a:r>
          </a:p>
          <a:p>
            <a:pPr indent="-230400">
              <a:lnSpc>
                <a:spcPct val="114000"/>
              </a:lnSpc>
            </a:pP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3668" y="760639"/>
            <a:ext cx="12303256" cy="365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383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Session 8: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Movie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Recommendation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Techniques</a:t>
            </a:r>
            <a:endParaRPr dirty="0"/>
          </a:p>
        </p:txBody>
      </p:sp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1929387" y="1592164"/>
            <a:ext cx="12451817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indent="-230400" fontAlgn="base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 Item-based Collaborative Filtering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Fill the column-wise NaN's in the User-Item Matrix with the corresponding movie's mean ratings, and find Pearson correlation between movies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Choose the correlation of all movies with the movie Jurassic Park (1993) only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Sort the  Jurassic Park movie correlation in descending order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Drop the NaN values generated in the correlation matrix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Find 10 movies similar to the movie Jurassic Park (1993)</a:t>
            </a:r>
          </a:p>
          <a:p>
            <a:pPr indent="-230400" rtl="0" fontAlgn="base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3668" y="760639"/>
            <a:ext cx="12303256" cy="365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51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</a:pP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Session 8: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Movie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Recommendation</a:t>
            </a:r>
            <a:r>
              <a:rPr lang="fr-FR" b="1" i="0" dirty="0">
                <a:solidFill>
                  <a:srgbClr val="0D0D0D"/>
                </a:solidFill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Techniques</a:t>
            </a:r>
            <a:endParaRPr dirty="0"/>
          </a:p>
        </p:txBody>
      </p:sp>
      <p:sp>
        <p:nvSpPr>
          <p:cNvPr id="177" name="Google Shape;177;p3"/>
          <p:cNvSpPr txBox="1">
            <a:spLocks noGrp="1"/>
          </p:cNvSpPr>
          <p:nvPr>
            <p:ph type="body" idx="1"/>
          </p:nvPr>
        </p:nvSpPr>
        <p:spPr>
          <a:xfrm>
            <a:off x="1929387" y="1592163"/>
            <a:ext cx="12451817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indent="-230400" rtl="0" fontAlgn="base">
              <a:lnSpc>
                <a:spcPct val="114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 KNNBasic, SVD, NMF Model-based Collaborative Filtering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Initialize KNNBasic with similarity configuration as Mean Squared Distance Similarity (msd), 20 neighbors and cross-validate 5 folds against measure RMSE.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None/>
            </a:pPr>
            <a:r>
              <a:rPr lang="en-US" sz="2200" b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(Hint: cross_validate(algo=algo, data=data, measures=['RMSE'], cv=5, verbose=True)) 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Initialize Singular Value Decomposition (SVD) and  cross-validate 5 folds against measure RMSE. 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Initialize Non-Negative Matrix Factorization (NMF) and cross-validate 5 folds against measure RMSE.</a:t>
            </a:r>
          </a:p>
          <a:p>
            <a:pPr marL="914400" lvl="2" indent="-230400" fontAlgn="base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 best score and best params from Cross Validate on all the models built.</a:t>
            </a:r>
          </a:p>
          <a:p>
            <a:pPr indent="-230400" rtl="0" fontAlgn="base">
              <a:lnSpc>
                <a:spcPct val="114000"/>
              </a:lnSpc>
              <a:spcAft>
                <a:spcPts val="0"/>
              </a:spcAft>
            </a:pPr>
            <a:endParaRPr lang="en-US" i="0" u="none" strike="noStrike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2907" y="760639"/>
            <a:ext cx="11184778" cy="365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414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3701CD-0736-EB52-89A9-F9AC1B383A2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Marketing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1079</Words>
  <Application>Microsoft Office PowerPoint</Application>
  <PresentationFormat>Custom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Open Sans</vt:lpstr>
      <vt:lpstr>Arial</vt:lpstr>
      <vt:lpstr>Calibri</vt:lpstr>
      <vt:lpstr>Digital Marketing</vt:lpstr>
      <vt:lpstr>PowerPoint Presentation</vt:lpstr>
      <vt:lpstr>PowerPoint Presentation</vt:lpstr>
      <vt:lpstr>Machine Learning for Strategic Decision-Making</vt:lpstr>
      <vt:lpstr>Project Statement</vt:lpstr>
      <vt:lpstr>Session 8: Dataset Description</vt:lpstr>
      <vt:lpstr>Session 8: Dataset Description</vt:lpstr>
      <vt:lpstr>Session 8: Movie Recommendation Techniques</vt:lpstr>
      <vt:lpstr>Session 8: Movie Recommendation Techniques</vt:lpstr>
      <vt:lpstr>Session 8: Movie Recommendation Techniques</vt:lpstr>
      <vt:lpstr>Session 8: Movie Recommendation Techniques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Singh</dc:creator>
  <cp:lastModifiedBy>Shardula Biswas</cp:lastModifiedBy>
  <cp:revision>20</cp:revision>
  <dcterms:modified xsi:type="dcterms:W3CDTF">2024-05-21T16:11:25Z</dcterms:modified>
</cp:coreProperties>
</file>